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nothing on this slide — go straight into the cold open as slide 2 appears. Clicker in hand, demo machine mirrored, video cued.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 open, verbatim: 'When Sky News went off air in the CrowdStrike outage, the fix was a documented admin procedure — executed thousands of times, by hand. One of us watched that same loop every day inside Disney+ operations.' 8.85 business hours = MetricNet/HDI average MTTR. Do NOT claim Disney runs any particular vendor — first-hand observation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the two numbers in ONE sentence. Sources verified 3–0: Splunk 2026; Oxford Economics/Splunk 2024 $200M/company; ServiceNow KCS case study (&gt;60% repeats). Never say '$400B' bare — always pair $600B with $200M/company.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'Precedent is the agent that remembers every fix your organisation has ever applied and applies it again — with a human approval gate, a full audit trail, and a rollback prepared before anything runs.' Conduct framing: 'Conduct makes legacy legible; Precedent makes legacy operable.'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'The manual loop is eight and a half hours. Precedent’s first resolution ~a minute — a human clicks approve. Every repeat ~15 s. The second time is free.' This slide appears within the first 90 seconds. Never cut or degrade the time bars.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'unscripted' on stage. Incident-3 payoff: 'It isn’t allowed to read that runbook — so it refused, and routed the incident to the team that is. It knows what it’s not allowed to touch.' The ~15 s is paced-up (real work ~6–8 s), never presented as raw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permission decision is deterministic policy — no LLM ever authorises an action; the model proposes, the policy engine and a human identity dispose. ~8% of leaders accept full autonomy, ~90% demand audit logs; the guardrails ARE the purchase criterion. L3 is never 'Autonomous'.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100% open-weight: Qwen3.5-35B-A3B (Apache-2.0), DeepSeek-V4-Flash/Pro (MIT), BGE-M3 (MIT), Venice-served, verified vs public HF weights with /models dumps committed. Permission-aware memory ships as a standalone library Precedent imports. Three agents on Agentverse over Chat Protocol; the full loop runs inside an ASI:One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scoping: Komodor’s Klaudia and Digitate Ignio do execute remediations in their silos (K8s / their own automations) — the whitespace is the combination. Incumbents acquire this layer (Moveworks $2.85B, Mar 2025); that’s the exit narrative. Never say 'nobody executes'.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94% = fix-class EXISTENCE (key includes closed_code, known only at resolution); 98.6% at symptom level is the arrival-knowable number — don’t swap. P99 0.445 µs from bench/RESULTS.md (seed 4207). Extractor: 0 false-fast-paths / 100 mutations, 25/25 decoys resisted (extractor_robustness.json). 18 hrs is CALENDAR — keep the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Vendor-claimed marketing figures (Encompass/Amagi) — say so if pressed. $22/$69/$104 = MetricNet whitepaper, vintage ~2019–2020 — quote the numbers, not fake freshness.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the ask as a sentence, not a slide-read. Team names/photos/credentials are human-written and added before the live pitch — never AI-invented. Last words before Q&amp;A: 'The second time is free.'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0" b="1">
                <a:solidFill>
                  <a:srgbClr val="E6E6E6"/>
                </a:solidFill>
                <a:latin typeface="Arial"/>
              </a:rPr>
              <a:t>Precedent</a:t>
            </a:r>
          </a:p>
          <a:p>
            <a:pPr algn="ctr"/>
            <a:r>
              <a:rPr sz="2600" b="0">
                <a:solidFill>
                  <a:srgbClr val="34D399"/>
                </a:solidFill>
                <a:latin typeface="Arial"/>
              </a:rPr>
              <a:t>Every incident resolved becomes precedent.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A8F98"/>
                </a:solidFill>
                <a:latin typeface="Arial"/>
              </a:rPr>
              <a:t>Team — UK AI Agent Hackathon EP5  ·  Conduct “Make Legacy Move”  ·  Fetch.ai  ·  BasedAI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E6E6"/>
                </a:solidFill>
                <a:latin typeface="Arial"/>
              </a:rPr>
              <a:t>Something breaks → find the manual → click through an admin console.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0" b="1">
                <a:solidFill>
                  <a:srgbClr val="34D399"/>
                </a:solidFill>
                <a:latin typeface="Arial"/>
              </a:rPr>
              <a:t>8.85 hours</a:t>
            </a:r>
          </a:p>
          <a:p>
            <a:pPr algn="l"/>
            <a:r>
              <a:rPr sz="2000" b="0">
                <a:solidFill>
                  <a:srgbClr val="B8BEC6"/>
                </a:solidFill>
                <a:latin typeface="Arial"/>
              </a:rPr>
              <a:t>average time to resolve an incident — for a fix that is often minutes of keystrokes once it’s 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34D399"/>
                </a:solidFill>
                <a:latin typeface="Arial"/>
              </a:rPr>
              <a:t>$600B / year</a:t>
            </a:r>
          </a:p>
          <a:p>
            <a:pPr algn="l"/>
            <a:r>
              <a:rPr sz="1900" b="0">
                <a:solidFill>
                  <a:srgbClr val="B8BEC6"/>
                </a:solidFill>
                <a:latin typeface="Arial"/>
              </a:rPr>
              <a:t>downtime cost across the Global 2000 — up 50% in two years (Splunk, 2026)</a:t>
            </a:r>
          </a:p>
          <a:p>
            <a:pPr algn="l"/>
            <a:r>
              <a:rPr sz="2200" b="1">
                <a:solidFill>
                  <a:srgbClr val="E6E6E6"/>
                </a:solidFill>
                <a:latin typeface="Arial"/>
              </a:rPr>
              <a:t>≈ $200M per company (Oxford Economics/Splunk, 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8056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6E6E6"/>
                </a:solidFill>
                <a:latin typeface="Arial"/>
              </a:rPr>
              <a:t>&gt;60% of incidents are repeats — the fix already exists, nobody can find it (ServiceNow’s own support 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6E6"/>
                </a:solidFill>
                <a:latin typeface="Arial"/>
              </a:rPr>
              <a:t>AI SREs fix broken code. In real enterprises, the fix is almost never code — it’s a documented admin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4D399"/>
                </a:solidFill>
                <a:latin typeface="Arial"/>
              </a:rPr>
              <a:t>Precedent remembers every fix your organisation has ever applied — and applies it again.</a:t>
            </a:r>
          </a:p>
          <a:p>
            <a:pPr algn="l"/>
            <a:r>
              <a:rPr sz="1800" b="0">
                <a:solidFill>
                  <a:srgbClr val="E6E6E6"/>
                </a:solidFill>
                <a:latin typeface="Arial"/>
              </a:rPr>
              <a:t>risk-classified  ·  approval-gated  ·  audited  ·  reversible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A8F98"/>
                </a:solidFill>
                <a:latin typeface="Arial"/>
              </a:rPr>
              <a:t>detect → find the documented fix → check risk → get approval → execute → verify → remember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E6E6"/>
                </a:solidFill>
                <a:latin typeface="Arial"/>
              </a:rPr>
              <a:t>Same incident. Same fix.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8BEC6"/>
                </a:solidFill>
                <a:latin typeface="Arial"/>
              </a:rPr>
              <a:t>Manual: ticket → search KB → admin console → approval queue → resolve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502920"/>
          </a:xfrm>
          <a:prstGeom prst="roundRect">
            <a:avLst/>
          </a:prstGeom>
          <a:solidFill>
            <a:srgbClr val="3A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E6E6E6"/>
                </a:solidFill>
                <a:latin typeface="Arial"/>
              </a:rPr>
              <a:t>8.85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8BEC6"/>
                </a:solidFill>
                <a:latin typeface="Arial"/>
              </a:rPr>
              <a:t>First time with Precedent (human approves)  ~60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457200" cy="4572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8BEC6"/>
                </a:solidFill>
                <a:latin typeface="Arial"/>
              </a:rPr>
              <a:t>Every time after (pre-approved)  ~15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46304" cy="4572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34D399"/>
                </a:solidFill>
                <a:latin typeface="Arial"/>
              </a:rPr>
              <a:t>The second time is free.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6E6E6"/>
                </a:solidFill>
                <a:latin typeface="Arial"/>
              </a:rPr>
              <a:t>MediaCo — a simulated broadcaster  ·  real data  ·  live Jira Service Management  ·  unscripted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E6E6E6"/>
                </a:solidFill>
                <a:latin typeface="Arial"/>
              </a:rPr>
              <a:t>1.  Broken EPG publish → plan + rollback → human approves → fixed in ~60 s, Jira ticket closes itself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34D399"/>
                </a:solidFill>
                <a:latin typeface="Arial"/>
              </a:rPr>
              <a:t>2.  Same class recurs → pre-approved standard change → fixed in ~15 s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E6E6E6"/>
                </a:solidFill>
                <a:latin typeface="Arial"/>
              </a:rPr>
              <a:t>3.  Rights conflict, restricted runbook → Precedent refuses and routes to the right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F98"/>
                </a:solidFill>
                <a:latin typeface="Arial"/>
              </a:rPr>
              <a:t>Seed data: real public runbooks (GitLab, Kubernetes SIG, the published CrowdStrike remediation), real programme metadata, and a 141k-event public IT-incident log ingested as fix history. Incident text is mutated at generation time — typos, vague symptoms, missing codes.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E6E6"/>
                </a:solidFill>
                <a:latin typeface="Arial"/>
              </a:rPr>
              <a:t>Autonomy is earned per incident-class — and a human grants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8BEC6"/>
                </a:solidFill>
                <a:latin typeface="Arial"/>
              </a:rPr>
              <a:t>L0 Observe  →  L1 Recommend  →  L2 Execute after approval  →  </a:t>
            </a:r>
            <a:r>
              <a:rPr sz="2000" b="1">
                <a:solidFill>
                  <a:srgbClr val="34D399"/>
                </a:solidFill>
                <a:latin typeface="Arial"/>
              </a:rPr>
              <a:t>L3 Standing Approval</a:t>
            </a:r>
            <a:r>
              <a:rPr sz="1600" b="0">
                <a:solidFill>
                  <a:srgbClr val="B8BEC6"/>
                </a:solidFill>
                <a:latin typeface="Arial"/>
              </a:rPr>
              <a:t>  (pre-approved standard change)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3017520" cy="6858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0B0F14"/>
                </a:solidFill>
                <a:latin typeface="Arial"/>
              </a:rPr>
              <a:t>Promote to standing approval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3017520"/>
            <a:ext cx="1554480" cy="685800"/>
          </a:xfrm>
          <a:prstGeom prst="roundRect">
            <a:avLst/>
          </a:prstGeom>
          <a:noFill/>
          <a:ln w="1587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E6E6E6"/>
                </a:solidFill>
                <a:latin typeface="Arial"/>
              </a:rPr>
              <a:t>Revoke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4D399"/>
                </a:solidFill>
                <a:latin typeface="Arial"/>
              </a:rPr>
              <a:t>Approval moves earlier in time. It never leaves the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6E6E6"/>
                </a:solidFill>
                <a:latin typeface="Arial"/>
              </a:rPr>
              <a:t>Five specialised agents  ·  deterministic policy engine  ·  permission-aware memory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194560"/>
            <a:ext cx="1554480" cy="1005840"/>
          </a:xfrm>
          <a:prstGeom prst="ellipse">
            <a:avLst/>
          </a:prstGeom>
          <a:solidFill>
            <a:srgbClr val="161C2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E6E6E6"/>
                </a:solidFill>
                <a:latin typeface="Arial"/>
              </a:rPr>
              <a:t>detect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2194560"/>
            <a:ext cx="1554480" cy="1005840"/>
          </a:xfrm>
          <a:prstGeom prst="ellipse">
            <a:avLst/>
          </a:prstGeom>
          <a:solidFill>
            <a:srgbClr val="161C2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E6E6E6"/>
                </a:solidFill>
                <a:latin typeface="Arial"/>
              </a:rPr>
              <a:t>triage</a:t>
            </a:r>
          </a:p>
        </p:txBody>
      </p:sp>
      <p:sp>
        <p:nvSpPr>
          <p:cNvPr id="6" name="Oval 5"/>
          <p:cNvSpPr/>
          <p:nvPr/>
        </p:nvSpPr>
        <p:spPr>
          <a:xfrm>
            <a:off x="5120640" y="2194560"/>
            <a:ext cx="1554480" cy="1005840"/>
          </a:xfrm>
          <a:prstGeom prst="ellipse">
            <a:avLst/>
          </a:prstGeom>
          <a:solidFill>
            <a:srgbClr val="161C2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E6E6E6"/>
                </a:solidFill>
                <a:latin typeface="Arial"/>
              </a:rPr>
              <a:t>decide</a:t>
            </a:r>
          </a:p>
        </p:txBody>
      </p:sp>
      <p:sp>
        <p:nvSpPr>
          <p:cNvPr id="7" name="Oval 6"/>
          <p:cNvSpPr/>
          <p:nvPr/>
        </p:nvSpPr>
        <p:spPr>
          <a:xfrm>
            <a:off x="7269480" y="2194560"/>
            <a:ext cx="1554480" cy="1005840"/>
          </a:xfrm>
          <a:prstGeom prst="ellipse">
            <a:avLst/>
          </a:prstGeom>
          <a:solidFill>
            <a:srgbClr val="161C2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E6E6E6"/>
                </a:solidFill>
                <a:latin typeface="Arial"/>
              </a:rPr>
              <a:t>execute</a:t>
            </a:r>
          </a:p>
        </p:txBody>
      </p:sp>
      <p:sp>
        <p:nvSpPr>
          <p:cNvPr id="8" name="Oval 7"/>
          <p:cNvSpPr/>
          <p:nvPr/>
        </p:nvSpPr>
        <p:spPr>
          <a:xfrm>
            <a:off x="9418320" y="2194560"/>
            <a:ext cx="1554480" cy="1005840"/>
          </a:xfrm>
          <a:prstGeom prst="ellipse">
            <a:avLst/>
          </a:prstGeom>
          <a:solidFill>
            <a:srgbClr val="161C2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E6E6E6"/>
                </a:solidFill>
                <a:latin typeface="Arial"/>
              </a:rPr>
              <a:t>verify</a:t>
            </a:r>
          </a:p>
        </p:txBody>
      </p:sp>
      <p:sp>
        <p:nvSpPr>
          <p:cNvPr id="9" name="Pentagon 8"/>
          <p:cNvSpPr/>
          <p:nvPr/>
        </p:nvSpPr>
        <p:spPr>
          <a:xfrm>
            <a:off x="5074920" y="3429000"/>
            <a:ext cx="2194560" cy="640080"/>
          </a:xfrm>
          <a:prstGeom prst="homePlat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 b="1">
                <a:solidFill>
                  <a:srgbClr val="0B0F14"/>
                </a:solidFill>
                <a:latin typeface="Arial"/>
              </a:rPr>
              <a:t>deterministic policy gate — no LLM in the authorisation path</a:t>
            </a:r>
          </a:p>
        </p:txBody>
      </p:sp>
      <p:sp>
        <p:nvSpPr>
          <p:cNvPr id="10" name="Can 9"/>
          <p:cNvSpPr/>
          <p:nvPr/>
        </p:nvSpPr>
        <p:spPr>
          <a:xfrm>
            <a:off x="4937760" y="4297680"/>
            <a:ext cx="2377440" cy="914400"/>
          </a:xfrm>
          <a:prstGeom prst="can">
            <a:avLst/>
          </a:prstGeom>
          <a:solidFill>
            <a:srgbClr val="161C24"/>
          </a:solidFill>
          <a:ln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B8BEC6"/>
                </a:solidFill>
                <a:latin typeface="Arial"/>
              </a:rPr>
              <a:t>executed fixes, permission-aware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F98"/>
                </a:solidFill>
                <a:latin typeface="Arial"/>
              </a:rPr>
              <a:t>Live Jira Service Management  ·  open-weight models end-to-end  ·  agents live on Fetch.ai Agentverse / ASI:One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8BEC6"/>
                </a:solidFill>
                <a:latin typeface="Arial"/>
              </a:rPr>
              <a:t>AI SREs stop at diagnosis. RPA is incident-blind. Runbook automation only runs pre-written scripts. ServiceNow deflects tickets inside its own walls.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E6E6"/>
                </a:solidFill>
                <a:latin typeface="Arial"/>
              </a:rPr>
              <a:t>The closed loop — retrieve your documented fix → approval-gated execution in third-party systems → verified, audited, remembered — is unclaimed.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ServiceNow paid $2.85B for Moveworks — resolution memory is worth buying.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6E6E6"/>
                </a:solidFill>
                <a:latin typeface="Arial"/>
              </a:rPr>
              <a:t>Every resolution writes a record: symptom → verified fix → approver → risk → rollback → outcome.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Arial"/>
              </a:rPr>
              <a:t>incident → fix → precedent → faster next time → more incidents trusted to it → 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E6E6E6"/>
                </a:solidFill>
                <a:latin typeface="Arial"/>
              </a:rPr>
              <a:t>141,000 real incident events ingested  ·  a 25k-record incident store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94% arrived with their fix already precedented — and still took a median 18 hrs (calendar) to resolve by hand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34D399"/>
                </a:solidFill>
                <a:latin typeface="Arial"/>
              </a:rPr>
              <a:t>Permission-checked retrieval: P99 0.445 µs  ·  FNR 0 leaks / 5,219 deny-expected  ·  6/6 adversarial attacks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B8BEC6"/>
                </a:solidFill>
                <a:latin typeface="Arial"/>
              </a:rPr>
              <a:t>Triage on mangled tickets (100-mutation corpus): 0 false-fast-paths / 100  ·  25/25 red-herring decoys resisted  (8% correct-match, 50% safe-degrade, 0% false fast-path)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1">
                <a:solidFill>
                  <a:srgbClr val="E6E6E6"/>
                </a:solidFill>
                <a:latin typeface="Arial"/>
              </a:rPr>
              <a:t>Media ops first — regulated failure (Ofcom), 24/7 deadlines, legacy consoles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One MSP deal = hundreds of channels — Encompass runs 1,200+ channels/day; Amagi 5,000+ deliveries (vendor-claimed)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34D399"/>
                </a:solidFill>
                <a:latin typeface="Arial"/>
              </a:rPr>
              <a:t>Then: every ops team drowning in runbooks — every ticket deflected saves $22 → $69 → $104 per escalation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Arial"/>
              </a:rPr>
              <a:t>Agents made retrieve-and-safely-execute possible this year. Incumbents are priced to meter the workflow, not delete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6E6E6"/>
                </a:solidFill>
                <a:latin typeface="Arial"/>
              </a:rPr>
              <a:t>Founding team — UK AI Agent Hackathon EP5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8F98"/>
                </a:solidFill>
                <a:latin typeface="Arial"/>
              </a:rPr>
              <a:t>(one of us watched the incident loop first-hand inside broadcast-streaming operations)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Arial"/>
              </a:rPr>
              <a:t>The ask: two intros to broadcast-ops or MSP design partners — and we’re applying to Antler &amp; EWOR with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6E6E6"/>
                </a:solidFill>
                <a:latin typeface="Arial"/>
              </a:rPr>
              <a:t>ServiceNow paid $2.85B for resolution memory. We’re building the version that executes.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A1 — Every number, sourced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Global 2000 downtime bill  </a:t>
            </a:r>
            <a:r>
              <a:rPr sz="1200" b="1">
                <a:solidFill>
                  <a:srgbClr val="34D399"/>
                </a:solidFill>
                <a:latin typeface="Arial"/>
              </a:rPr>
              <a:t>$600B/yr, +50% in 2 yrs  </a:t>
            </a:r>
            <a:r>
              <a:rPr sz="1100" b="0">
                <a:solidFill>
                  <a:srgbClr val="8A8F98"/>
                </a:solidFill>
                <a:latin typeface="Arial"/>
              </a:rPr>
              <a:t>Splunk 2026 (exact framing)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Per-company downtime cost  </a:t>
            </a:r>
            <a:r>
              <a:rPr sz="1200" b="1">
                <a:solidFill>
                  <a:srgbClr val="34D399"/>
                </a:solidFill>
                <a:latin typeface="Arial"/>
              </a:rPr>
              <a:t>$200M/yr  </a:t>
            </a:r>
            <a:r>
              <a:rPr sz="1100" b="0">
                <a:solidFill>
                  <a:srgbClr val="8A8F98"/>
                </a:solidFill>
                <a:latin typeface="Arial"/>
              </a:rPr>
              <a:t>Oxford Economics/Splunk 2024 — verified 3–0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Repeat incidents with existing fixes  </a:t>
            </a:r>
            <a:r>
              <a:rPr sz="1200" b="1">
                <a:solidFill>
                  <a:srgbClr val="34D399"/>
                </a:solidFill>
                <a:latin typeface="Arial"/>
              </a:rPr>
              <a:t>&gt;60%  </a:t>
            </a:r>
            <a:r>
              <a:rPr sz="1100" b="0">
                <a:solidFill>
                  <a:srgbClr val="8A8F98"/>
                </a:solidFill>
                <a:latin typeface="Arial"/>
              </a:rPr>
              <a:t>ServiceNow KCS case study — verified 3–0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Cost per ticket L1 → desktop → L3  </a:t>
            </a:r>
            <a:r>
              <a:rPr sz="1200" b="1">
                <a:solidFill>
                  <a:srgbClr val="34D399"/>
                </a:solidFill>
                <a:latin typeface="Arial"/>
              </a:rPr>
              <a:t>$22 → $69 → $104  </a:t>
            </a:r>
            <a:r>
              <a:rPr sz="1100" b="0">
                <a:solidFill>
                  <a:srgbClr val="8A8F98"/>
                </a:solidFill>
                <a:latin typeface="Arial"/>
              </a:rPr>
              <a:t>MetricNet whitepaper (~2019–20)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Average incident MTTR  </a:t>
            </a:r>
            <a:r>
              <a:rPr sz="1200" b="1">
                <a:solidFill>
                  <a:srgbClr val="34D399"/>
                </a:solidFill>
                <a:latin typeface="Arial"/>
              </a:rPr>
              <a:t>8.85 business hrs  </a:t>
            </a:r>
            <a:r>
              <a:rPr sz="1100" b="0">
                <a:solidFill>
                  <a:srgbClr val="8A8F98"/>
                </a:solidFill>
                <a:latin typeface="Arial"/>
              </a:rPr>
              <a:t>MetricNet/HDI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KB-attached / KCS relief  </a:t>
            </a:r>
            <a:r>
              <a:rPr sz="1200" b="1">
                <a:solidFill>
                  <a:srgbClr val="34D399"/>
                </a:solidFill>
                <a:latin typeface="Arial"/>
              </a:rPr>
              <a:t>66% faster / 52% faster  </a:t>
            </a:r>
            <a:r>
              <a:rPr sz="1100" b="0">
                <a:solidFill>
                  <a:srgbClr val="8A8F98"/>
                </a:solidFill>
                <a:latin typeface="Arial"/>
              </a:rPr>
              <a:t>ServiceNow — verified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Moveworks acquisition  </a:t>
            </a:r>
            <a:r>
              <a:rPr sz="1200" b="1">
                <a:solidFill>
                  <a:srgbClr val="34D399"/>
                </a:solidFill>
                <a:latin typeface="Arial"/>
              </a:rPr>
              <a:t>$2.85B  </a:t>
            </a:r>
            <a:r>
              <a:rPr sz="1100" b="0">
                <a:solidFill>
                  <a:srgbClr val="8A8F98"/>
                </a:solidFill>
                <a:latin typeface="Arial"/>
              </a:rPr>
              <a:t>ServiceNow newsroom, Mar 2025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Deflection precedent  </a:t>
            </a:r>
            <a:r>
              <a:rPr sz="1200" b="1">
                <a:solidFill>
                  <a:srgbClr val="34D399"/>
                </a:solidFill>
                <a:latin typeface="Arial"/>
              </a:rPr>
              <a:t>50–88%  </a:t>
            </a:r>
            <a:r>
              <a:rPr sz="1100" b="0">
                <a:solidFill>
                  <a:srgbClr val="8A8F98"/>
                </a:solidFill>
                <a:latin typeface="Arial"/>
              </a:rPr>
              <a:t>Moveworks — vendor-claimed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Fix-class match rate (24,918 real incidents)  </a:t>
            </a:r>
            <a:r>
              <a:rPr sz="1200" b="1">
                <a:solidFill>
                  <a:srgbClr val="34D399"/>
                </a:solidFill>
                <a:latin typeface="Arial"/>
              </a:rPr>
              <a:t>94.4% (symptom 98.6%)  </a:t>
            </a:r>
            <a:r>
              <a:rPr sz="1100" b="0">
                <a:solidFill>
                  <a:srgbClr val="8A8F98"/>
                </a:solidFill>
                <a:latin typeface="Arial"/>
              </a:rPr>
              <a:t>our measurement, UCI CC BY 4.0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Median resolution, precedented repeats  </a:t>
            </a:r>
            <a:r>
              <a:rPr sz="1200" b="1">
                <a:solidFill>
                  <a:srgbClr val="34D399"/>
                </a:solidFill>
                <a:latin typeface="Arial"/>
              </a:rPr>
              <a:t>18.2 calendar hrs (p75 136.6)  </a:t>
            </a:r>
            <a:r>
              <a:rPr sz="1100" b="0">
                <a:solidFill>
                  <a:srgbClr val="8A8F98"/>
                </a:solidFill>
                <a:latin typeface="Arial"/>
              </a:rPr>
              <a:t>ours — never blend w/ 8.85 business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Recurring classes ≥4 occurrences  </a:t>
            </a:r>
            <a:r>
              <a:rPr sz="1200" b="1">
                <a:solidFill>
                  <a:srgbClr val="34D399"/>
                </a:solidFill>
                <a:latin typeface="Arial"/>
              </a:rPr>
              <a:t>558 classes = 94.8% of volume  </a:t>
            </a:r>
            <a:r>
              <a:rPr sz="1100" b="0">
                <a:solidFill>
                  <a:srgbClr val="8A8F98"/>
                </a:solidFill>
                <a:latin typeface="Arial"/>
              </a:rPr>
              <a:t>ours — ladder-bootstrap evidence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Extractor robustness (100-mutation corpus)  </a:t>
            </a:r>
            <a:r>
              <a:rPr sz="1200" b="1">
                <a:solidFill>
                  <a:srgbClr val="34D399"/>
                </a:solidFill>
                <a:latin typeface="Arial"/>
              </a:rPr>
              <a:t>0 false-fast-paths / 100; 25/25 decoys resisted  </a:t>
            </a:r>
            <a:r>
              <a:rPr sz="1100" b="0">
                <a:solidFill>
                  <a:srgbClr val="8A8F98"/>
                </a:solidFill>
                <a:latin typeface="Arial"/>
              </a:rPr>
              <a:t>ours — seed 4207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6E6E6"/>
                </a:solidFill>
                <a:latin typeface="Arial"/>
              </a:rPr>
              <a:t>Conformance FNR / attacks  </a:t>
            </a:r>
            <a:r>
              <a:rPr sz="1200" b="1">
                <a:solidFill>
                  <a:srgbClr val="34D399"/>
                </a:solidFill>
                <a:latin typeface="Arial"/>
              </a:rPr>
              <a:t>0 leaks / 5,219; 6/6  </a:t>
            </a:r>
            <a:r>
              <a:rPr sz="1100" b="0">
                <a:solidFill>
                  <a:srgbClr val="8A8F98"/>
                </a:solidFill>
                <a:latin typeface="Arial"/>
              </a:rPr>
              <a:t>ours — independent-oracle bench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A2 — Data provenance (the “not made up”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KB seeded with real published runbooks (GitLab, Kubernetes SIG, the CrowdStrike channel-file remediation) — every article carries its adapted_from URL.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Fix history from the UCI ServiceNow incident event log (141,712 events / 24,918 incidents, CC BY 4.0) — measured 94% fix-class match, 18.2h calendar median for precedented repeats.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Scheduler/rights/EPG seeded with real UK programme metadata (TVmaze CC BY-SA / Freeview XMLTV) and real streaming-catalog data (CC0 Kaggle) — only licence-window terms are synthesised, by a stated rule.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34D399"/>
                </a:solidFill>
                <a:latin typeface="Arial"/>
              </a:rPr>
              <a:t>We checked licences and REJECTED TMDB (API terms prohibit AI/ML use) and IMDb — the diligence is itself a credibility beat.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B8BEC6"/>
                </a:solidFill>
                <a:latin typeface="Arial"/>
              </a:rPr>
              <a:t>Incident text mutated at generation time (typos, colloquial symptoms, missing codes, red herrings). The systems are simulated; the content is real.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A3 — Standing approval: exact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Incident-class key = deterministic fingerprint sha256(service | error_code | target_object_type) from structured fields — the LLM proposes candidates, but a match only counts on fingerprint equality. The model never authorises itself.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Graduation, printed in the audit log: 3 consecutive verified L2 successes, zero rollbacks → eligible; a human clicks Promote to Standing Approval. Any verification failure or rollback auto-demotes the class to L1 and logs a demotion event.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The rollback plan is generated BEFORE execution and is a precondition of the gate; verification failure fires it automatically.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Approver identity is recorded per action (chat: the Chat Protocol sender address; production: SSO identity — the control structure is identical).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A4 — Permission-aware memory (BasedAI depth)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Every record stores the FULL set of source permission constraints; retrieval must satisfy ALL of them — conjunction, not one strictest label.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34D399"/>
                </a:solidFill>
                <a:latin typeface="Arial"/>
              </a:rPr>
              <a:t>A precompiled effective-policy cache makes the check one indexed lookup: P99 0.445 µs (end-to-end overhead P99 0.0130 ms) over the 25k-record store, concurrent queries.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Benchmarked in the track’s own vocabulary: FNR 0 / 5,219 and FPR 0 / 4,781 over 10,000 ground-truth queries graded by an INDEPENDENT oracle, P50/P99, overhead, ACL drift, time-to-consistency — each vs threshold in bench/RESULTS.md; six named attacks pass.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Revocation cascades — dual enforcement: flip the issue security level in Jira → Jira hides the runbook AND every derived fix/summary/embedding becomes unretrievable within one poll tick, with denial audit events in BOTH logs.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B8BEC6"/>
                </a:solidFill>
                <a:latin typeface="Arial"/>
              </a:rPr>
              <a:t>Fallback mode fails closed: uncertain ACL freshness → not served. Ships as a standalone library; 100% open-weight models, named in the README.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A5 — Why won’t ServiceNow / Conduct build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ServiceNow monetises seats + tickets; auto-resolution cannibalises both. They ACQUIRE this layer: Jeli $29.7M, Moveworks $2.85B. We’re building what they buy.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Now Assist acts inside ServiceNow workflows; we execute inside third-party business-app admin surfaces — their walls are our territory.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Conduct makes legacy legible; we make it operable — a complement, and the brief told us to build exactly this (“start with the process”).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34D399"/>
                </a:solidFill>
                <a:latin typeface="Arial"/>
              </a:rPr>
              <a:t>Rehearsed: “They meter the workflow; we delete it. Incumbents don’t ship products that shrink their own ticket count — they buy them. That’s the Moveworks story.”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A6 — Integration reality (the “you built the simulator” defence)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Four-tier surface strategy: REST APIs (WhatsOn-class schedulers) → BXF/file exchange → watched-folder/FTP drops → RPA-style console driving (last resort, same approval gates).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The Operator executes only TYPED tool calls per surface — never free-form shell; tier 3/4 fixes start at L0/L1 and stay approval-gated.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MediaCo’s endpoints deliberately mirror the surfaces the real vendors document (Grass Valley STRATUS: “traffic integration via BXF files”).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A7 — Fetch.ai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Three agents registered on Agentverse as mailbox agents, collaborating over the uAgents Agent Chat Protocol; both Innovation Lab + hackathon badges on each profile; the hosted degraded-L0 Watcher stays live post-hackathon.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The full loop runs inside an ASI:One conversation: report an incident in chat → plan + rollback → “approve” → the ticket transitions and closes → audit hash returned.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Approval principal = the Chat Protocol sender address, logged as the authorising identity, with a 10-minute gate TTL (a dropped session never leaks an execution).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8A8F98"/>
                </a:solidFill>
                <a:latin typeface="Arial"/>
              </a:rPr>
              <a:t>Agentverse profile URLs + the ASI:One shared-chat URL are captured at live registration.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A9 — Bottoms-up ACV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1">
                <a:solidFill>
                  <a:srgbClr val="E6E6E6"/>
                </a:solidFill>
                <a:latin typeface="Arial"/>
              </a:rPr>
              <a:t>One arithmetic slide, every input sourced: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E6E6E6"/>
                </a:solidFill>
                <a:latin typeface="Arial"/>
              </a:rPr>
              <a:t>1 MSP NOC (Encompass-class, 1,200+ channels)  ×  tens of thousands of tickets/yr  ×  60%+ repeat share (ServiceNow, verified 3–0; our corpus says 94% precedented)  ×  $50 blended deflection value (inside the $22–$104 MetricNet ladder)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34D399"/>
                </a:solidFill>
                <a:latin typeface="Arial"/>
              </a:rPr>
              <a:t>⇒  seven-figure ACV justification per site — before counting downtime avoidance.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8A8F98"/>
                </a:solidFill>
                <a:latin typeface="Arial"/>
              </a:rPr>
              <a:t>This is the bottoms-up serviceable-market answer; it does not replace primary customer evidence and never pretends 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rial"/>
              </a:rPr>
              <a:t>A8 — Liability &amp; regulated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Precedent executes only documented, previously-verified fixes at the customer’s chosen autonomy level — the customer’s own change-management policy, encoded and enforced. Shadow-mode-first at MSPs.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Headline metric we quote: per-class execution success + rollback rate from real runs — never model benchmarks (the incident.io-vs-Rootly accuracy-theatre war is the cautionary tale).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E6E6E6"/>
                </a:solidFill>
                <a:latin typeface="Arial"/>
              </a:rPr>
              <a:t>Every action carries: input, reasoning, confidence, action, authorising rule + approver — the audit schema regulators and SOC 2 auditors already recognise.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